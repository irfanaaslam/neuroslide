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hl17q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79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8F6FF"/>
                </a:solidFill>
                <a:latin typeface="Calibri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8138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F6FF"/>
                </a:solidFill>
                <a:latin typeface="Calibri"/>
              </a:rPr>
              <a:t>Renewable Energy Basics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3200400" cy="411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CBF2"/>
                </a:solidFill>
                <a:latin typeface="Calibri"/>
              </a:rPr>
              <a:t>Transforming Our Future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029200" cy="621792"/>
          </a:xfrm>
          <a:prstGeom prst="roundRect">
            <a:avLst>
              <a:gd name="adj" fmla="val 6000"/>
            </a:avLst>
          </a:prstGeom>
          <a:solidFill>
            <a:srgbClr val="161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639312"/>
            <a:ext cx="50292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69417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73075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8A76C3"/>
                </a:solidFill>
                <a:latin typeface="Calibri"/>
              </a:rPr>
              <a:t>of firms use renewable energy by 2025 (IRENA)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8746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70713"/>
                </a:solidFill>
                <a:latin typeface="Calibri"/>
              </a:rPr>
              <a:t>Renewable Energy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E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61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1206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1440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8F6FF"/>
                </a:solidFill>
                <a:latin typeface="Calibri"/>
              </a:rPr>
              <a:t>SLIDE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57200"/>
            <a:ext cx="4617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6FF"/>
                </a:solidFill>
                <a:latin typeface="Calibri"/>
              </a:rPr>
              <a:t>What is Renewable Energy?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43584"/>
            <a:ext cx="2194560" cy="384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371600"/>
            <a:ext cx="441655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50">
                <a:solidFill>
                  <a:srgbClr val="D0CBF2"/>
                </a:solidFill>
                <a:latin typeface="Calibri"/>
              </a:rPr>
              <a:t>Definition: energy generated from natural resources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D0CBF2"/>
                </a:solidFill>
                <a:latin typeface="Calibri"/>
              </a:rPr>
              <a:t>Examples: solar, wind, hydro power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D0CBF2"/>
                </a:solidFill>
                <a:latin typeface="Calibri"/>
              </a:rPr>
              <a:t>Importance: reduces carbon footprint</a:t>
            </a:r>
          </a:p>
        </p:txBody>
      </p:sp>
      <p:sp>
        <p:nvSpPr>
          <p:cNvPr id="11" name="Oval 10"/>
          <p:cNvSpPr/>
          <p:nvPr/>
        </p:nvSpPr>
        <p:spPr>
          <a:xfrm>
            <a:off x="356615" y="142646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5" y="1730705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5" y="2034946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2679192"/>
            <a:ext cx="4663440" cy="932688"/>
          </a:xfrm>
          <a:prstGeom prst="roundRect">
            <a:avLst>
              <a:gd name="adj" fmla="val 5000"/>
            </a:avLst>
          </a:prstGeom>
          <a:solidFill>
            <a:srgbClr val="12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679192"/>
            <a:ext cx="50292" cy="9326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" y="2734056"/>
            <a:ext cx="1325880" cy="201168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74320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8F6FF"/>
                </a:solidFill>
                <a:latin typeface="Calibri"/>
              </a:rPr>
              <a:t>📌 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2990088"/>
            <a:ext cx="44074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 i="1">
                <a:solidFill>
                  <a:srgbClr val="D0CBF2"/>
                </a:solidFill>
                <a:latin typeface="Calibri"/>
              </a:rPr>
              <a:t>The world's largest wind farm is the Altamont Pass Wind Farm in California, generating 2.4 GW of electricity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956048"/>
            <a:ext cx="914400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7433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76C3"/>
                </a:solidFill>
                <a:latin typeface="Calibri"/>
              </a:rPr>
              <a:t>Renewable Energy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97433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76C3"/>
                </a:solidFill>
                <a:latin typeface="Calibri"/>
              </a:rPr>
              <a:t>2  /  4</a:t>
            </a:r>
          </a:p>
        </p:txBody>
      </p:sp>
      <p:sp>
        <p:nvSpPr>
          <p:cNvPr id="23" name="Oval 22"/>
          <p:cNvSpPr/>
          <p:nvPr/>
        </p:nvSpPr>
        <p:spPr>
          <a:xfrm>
            <a:off x="4549140" y="5026456"/>
            <a:ext cx="45720" cy="457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hl17q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91440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8F6FF"/>
                </a:solidFill>
                <a:latin typeface="Calibri"/>
              </a:rPr>
              <a:t>KEY STATISTIC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6FF"/>
                </a:solidFill>
                <a:latin typeface="Calibri"/>
              </a:rPr>
              <a:t>Renewable Energy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2011680" cy="384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298448"/>
            <a:ext cx="6400800" cy="1426464"/>
          </a:xfrm>
          <a:prstGeom prst="roundRect">
            <a:avLst>
              <a:gd name="adj" fmla="val 5000"/>
            </a:avLst>
          </a:prstGeom>
          <a:solidFill>
            <a:srgbClr val="161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298448"/>
            <a:ext cx="640080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298448"/>
            <a:ext cx="59436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38988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  <a:latin typeface="Calibri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6771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76C3"/>
                </a:solidFill>
                <a:latin typeface="Calibri"/>
              </a:rPr>
              <a:t>The cost of solar panels has dropped by  in the last decade, making it more competitive with fossil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07792"/>
            <a:ext cx="8211311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D0CBF2"/>
                </a:solidFill>
                <a:latin typeface="Calibri"/>
              </a:rPr>
              <a:t>Global renewable energy capacity has grown by 20% annually since 2010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D0CBF2"/>
                </a:solidFill>
                <a:latin typeface="Calibri"/>
              </a:rPr>
              <a:t>Solar and wind power now account for over 30% of global electricity generation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" y="2962656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2336" y="3247847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956048"/>
            <a:ext cx="914400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97433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76C3"/>
                </a:solidFill>
                <a:latin typeface="Calibri"/>
              </a:rPr>
              <a:t>Renewable Energy Basics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97433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76C3"/>
                </a:solidFill>
                <a:latin typeface="Calibri"/>
              </a:rPr>
              <a:t>3  /  4</a:t>
            </a:r>
          </a:p>
        </p:txBody>
      </p:sp>
      <p:sp>
        <p:nvSpPr>
          <p:cNvPr id="20" name="Oval 19"/>
          <p:cNvSpPr/>
          <p:nvPr/>
        </p:nvSpPr>
        <p:spPr>
          <a:xfrm>
            <a:off x="4549140" y="5026456"/>
            <a:ext cx="45720" cy="457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hl17q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91440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8F6FF"/>
                </a:solidFill>
                <a:latin typeface="Calibri"/>
              </a:rPr>
              <a:t>EXPERT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6FF"/>
                </a:solidFill>
                <a:latin typeface="Calibri"/>
              </a:rPr>
              <a:t>Renewable Energy Expert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8138160" cy="1828800"/>
          </a:xfrm>
          <a:prstGeom prst="roundRect">
            <a:avLst>
              <a:gd name="adj" fmla="val 4000"/>
            </a:avLst>
          </a:prstGeom>
          <a:solidFill>
            <a:srgbClr val="161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50292" cy="1828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04241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78BFA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335024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200" b="0" i="1">
                <a:solidFill>
                  <a:srgbClr val="D0CBF2"/>
                </a:solidFill>
                <a:latin typeface="Calibri"/>
              </a:rPr>
              <a:t>• 'We need to fundamentally transform our energy system to avoid catastrophic climate change.' — Mark Jacobson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27248"/>
            <a:ext cx="81198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D0CBF2"/>
                </a:solidFill>
                <a:latin typeface="Calibri"/>
              </a:rPr>
              <a:t>'We need to fundamentally transform our energy system to avoid catastrophic climate change.' — Mark Jacobson</a:t>
            </a:r>
          </a:p>
        </p:txBody>
      </p:sp>
      <p:sp>
        <p:nvSpPr>
          <p:cNvPr id="12" name="Oval 11"/>
          <p:cNvSpPr/>
          <p:nvPr/>
        </p:nvSpPr>
        <p:spPr>
          <a:xfrm>
            <a:off x="448056" y="3182112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56048"/>
            <a:ext cx="914400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76C3"/>
                </a:solidFill>
                <a:latin typeface="Calibri"/>
              </a:rPr>
              <a:t>Renewable Energy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97433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76C3"/>
                </a:solidFill>
                <a:latin typeface="Calibri"/>
              </a:rPr>
              <a:t>4  /  4</a:t>
            </a:r>
          </a:p>
        </p:txBody>
      </p:sp>
      <p:sp>
        <p:nvSpPr>
          <p:cNvPr id="17" name="Oval 16"/>
          <p:cNvSpPr/>
          <p:nvPr/>
        </p:nvSpPr>
        <p:spPr>
          <a:xfrm>
            <a:off x="4549140" y="5026456"/>
            <a:ext cx="45720" cy="457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